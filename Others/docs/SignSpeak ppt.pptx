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1" r:id="rId6"/>
    <p:sldId id="267" r:id="rId7"/>
    <p:sldId id="268" r:id="rId8"/>
    <p:sldId id="265" r:id="rId9"/>
    <p:sldId id="269" r:id="rId10"/>
    <p:sldId id="266" r:id="rId11"/>
  </p:sldIdLst>
  <p:sldSz cx="18288000" cy="10287000"/>
  <p:notesSz cx="6858000" cy="9144000"/>
  <p:embeddedFontLst>
    <p:embeddedFont>
      <p:font typeface="Dream Avenue" panose="020B0604020202020204" charset="0"/>
      <p:regular r:id="rId12"/>
    </p:embeddedFont>
    <p:embeddedFont>
      <p:font typeface="Lora" pitchFamily="2" charset="0"/>
      <p:regular r:id="rId13"/>
    </p:embeddedFont>
    <p:embeddedFont>
      <p:font typeface="TAN Pearl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96" y="2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7281" y="0"/>
            <a:ext cx="3088591" cy="10287000"/>
            <a:chOff x="0" y="0"/>
            <a:chExt cx="81345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3725255" y="7105272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10" y="0"/>
                </a:lnTo>
                <a:lnTo>
                  <a:pt x="7450510" y="7450510"/>
                </a:lnTo>
                <a:lnTo>
                  <a:pt x="0" y="7450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06625" y="-4304799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09" y="0"/>
                </a:lnTo>
                <a:lnTo>
                  <a:pt x="7450509" y="7450509"/>
                </a:lnTo>
                <a:lnTo>
                  <a:pt x="0" y="745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667000" y="2409931"/>
            <a:ext cx="11125200" cy="142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0"/>
              </a:lnSpc>
            </a:pPr>
            <a:r>
              <a:rPr lang="en-US" sz="2400" spc="392" dirty="0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Title:- </a:t>
            </a:r>
            <a:r>
              <a:rPr lang="en-US" sz="2400" u="sng" spc="392" dirty="0">
                <a:solidFill>
                  <a:srgbClr val="000000"/>
                </a:solidFill>
                <a:latin typeface="Times New Roman" panose="02020603050405020304" pitchFamily="18" charset="0"/>
                <a:ea typeface="Dream Avenue"/>
                <a:cs typeface="Times New Roman" panose="02020603050405020304" pitchFamily="18" charset="0"/>
                <a:sym typeface="Dream Avenue"/>
              </a:rPr>
              <a:t> </a:t>
            </a:r>
            <a:r>
              <a:rPr lang="en-US" sz="6000" u="sng" spc="392" dirty="0">
                <a:solidFill>
                  <a:srgbClr val="000000"/>
                </a:solidFill>
                <a:latin typeface="Times New Roman" panose="02020603050405020304" pitchFamily="18" charset="0"/>
                <a:ea typeface="Dream Avenue"/>
                <a:cs typeface="Times New Roman" panose="02020603050405020304" pitchFamily="18" charset="0"/>
                <a:sym typeface="Dream Avenue"/>
              </a:rPr>
              <a:t>Sign Language Translator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67001" y="4686300"/>
            <a:ext cx="4800600" cy="2571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064"/>
              </a:lnSpc>
              <a:spcBef>
                <a:spcPct val="0"/>
              </a:spcBef>
            </a:pPr>
            <a:r>
              <a:rPr lang="en-US" sz="2800" u="none" strike="noStrike" dirty="0">
                <a:solidFill>
                  <a:srgbClr val="010101"/>
                </a:solidFill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Name: </a:t>
            </a:r>
          </a:p>
          <a:p>
            <a:pPr marL="0" lvl="0" indent="0" algn="l">
              <a:lnSpc>
                <a:spcPts val="5064"/>
              </a:lnSpc>
              <a:spcBef>
                <a:spcPct val="0"/>
              </a:spcBef>
            </a:pPr>
            <a:r>
              <a:rPr lang="en-US" sz="2800" dirty="0">
                <a:solidFill>
                  <a:srgbClr val="010101"/>
                </a:solidFill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	1) </a:t>
            </a:r>
            <a:r>
              <a:rPr lang="en-US" sz="2800" u="none" strike="noStrike" dirty="0">
                <a:solidFill>
                  <a:srgbClr val="010101"/>
                </a:solidFill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Prathamesh Raut </a:t>
            </a:r>
          </a:p>
          <a:p>
            <a:pPr marL="0" lvl="0" indent="0" algn="l">
              <a:lnSpc>
                <a:spcPts val="5064"/>
              </a:lnSpc>
              <a:spcBef>
                <a:spcPct val="0"/>
              </a:spcBef>
            </a:pPr>
            <a:r>
              <a:rPr lang="en-US" sz="2800" dirty="0">
                <a:solidFill>
                  <a:srgbClr val="010101"/>
                </a:solidFill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	2) Yogesh Reddy</a:t>
            </a:r>
          </a:p>
          <a:p>
            <a:pPr marL="0" lvl="0" indent="0" algn="l">
              <a:lnSpc>
                <a:spcPts val="5064"/>
              </a:lnSpc>
              <a:spcBef>
                <a:spcPct val="0"/>
              </a:spcBef>
            </a:pPr>
            <a:r>
              <a:rPr lang="en-US" sz="2800" u="none" strike="noStrike" dirty="0">
                <a:solidFill>
                  <a:srgbClr val="010101"/>
                </a:solidFill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	3) Aniket </a:t>
            </a:r>
            <a:r>
              <a:rPr lang="en-US" sz="2800" u="none" strike="noStrike" dirty="0" err="1">
                <a:solidFill>
                  <a:srgbClr val="010101"/>
                </a:solidFill>
                <a:latin typeface="Times New Roman" panose="02020603050405020304" pitchFamily="18" charset="0"/>
                <a:ea typeface="Lora"/>
                <a:cs typeface="Times New Roman" panose="02020603050405020304" pitchFamily="18" charset="0"/>
                <a:sym typeface="Lora"/>
              </a:rPr>
              <a:t>Tandale</a:t>
            </a:r>
            <a:endParaRPr lang="en-US" sz="2800" u="none" strike="noStrike" dirty="0">
              <a:solidFill>
                <a:srgbClr val="010101"/>
              </a:solidFill>
              <a:latin typeface="Times New Roman" panose="02020603050405020304" pitchFamily="18" charset="0"/>
              <a:ea typeface="Lora"/>
              <a:cs typeface="Times New Roman" panose="02020603050405020304" pitchFamily="18" charset="0"/>
              <a:sym typeface="Lor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727DD0-2562-B32A-B4D1-64B968E0283A}"/>
              </a:ext>
            </a:extLst>
          </p:cNvPr>
          <p:cNvSpPr txBox="1"/>
          <p:nvPr/>
        </p:nvSpPr>
        <p:spPr>
          <a:xfrm>
            <a:off x="2590800" y="419100"/>
            <a:ext cx="13639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Tuljabhavani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 </a:t>
            </a:r>
          </a:p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Tuljapur-413601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Affiliated by Dr. BATU University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F390DE-6A9A-B2DA-A4DA-71F639BBA88D}"/>
              </a:ext>
            </a:extLst>
          </p:cNvPr>
          <p:cNvSpPr txBox="1"/>
          <p:nvPr/>
        </p:nvSpPr>
        <p:spPr>
          <a:xfrm>
            <a:off x="11125200" y="5821857"/>
            <a:ext cx="464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S. E.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Hajare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597202" y="1707235"/>
            <a:ext cx="6546798" cy="1279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50"/>
              </a:lnSpc>
              <a:spcBef>
                <a:spcPct val="0"/>
              </a:spcBef>
            </a:pPr>
            <a:r>
              <a:rPr lang="en-US" sz="7393" u="none" strike="noStrike" spc="96">
                <a:solidFill>
                  <a:srgbClr val="000000"/>
                </a:solidFill>
                <a:latin typeface="Dream Avenue"/>
                <a:ea typeface="Dream Avenue"/>
                <a:cs typeface="Dream Avenue"/>
                <a:sym typeface="Dream Avenue"/>
              </a:rPr>
              <a:t>Introduction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877281" y="-108496"/>
            <a:ext cx="3088591" cy="10395496"/>
            <a:chOff x="0" y="-28575"/>
            <a:chExt cx="813456" cy="27379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5400000">
            <a:off x="-2421094" y="4207228"/>
            <a:ext cx="8543440" cy="1872544"/>
          </a:xfrm>
          <a:custGeom>
            <a:avLst/>
            <a:gdLst/>
            <a:ahLst/>
            <a:cxnLst/>
            <a:rect l="l" t="t" r="r" b="b"/>
            <a:pathLst>
              <a:path w="8543440" h="1872544">
                <a:moveTo>
                  <a:pt x="0" y="0"/>
                </a:moveTo>
                <a:lnTo>
                  <a:pt x="8543440" y="0"/>
                </a:lnTo>
                <a:lnTo>
                  <a:pt x="8543440" y="1872544"/>
                </a:lnTo>
                <a:lnTo>
                  <a:pt x="0" y="1872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38523"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3EA597-212A-4D73-418E-039C56DAF52C}"/>
              </a:ext>
            </a:extLst>
          </p:cNvPr>
          <p:cNvSpPr txBox="1"/>
          <p:nvPr/>
        </p:nvSpPr>
        <p:spPr>
          <a:xfrm>
            <a:off x="2607898" y="3314700"/>
            <a:ext cx="9652000" cy="465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SignSpeak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AI-powered application designed to interpret sign language gestures into readable text.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bridges the communication gap between hearing-impaired individuals and the rest of the world.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 and machine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recognize hand gestures from images or webcam feeds.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further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languages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users to translate sign language into English, Hindi, and Marathi.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focuses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inclusivity, accessibility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interaction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modern technology.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8CFD26E-84BA-0412-C412-D9517B41E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6486" y="0"/>
            <a:ext cx="5631514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5944026"/>
            <a:ext cx="18288000" cy="7894014"/>
            <a:chOff x="0" y="0"/>
            <a:chExt cx="5039628" cy="19943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9628" cy="1994339"/>
            </a:xfrm>
            <a:custGeom>
              <a:avLst/>
              <a:gdLst/>
              <a:ahLst/>
              <a:cxnLst/>
              <a:rect l="l" t="t" r="r" b="b"/>
              <a:pathLst>
                <a:path w="5039628" h="1994339">
                  <a:moveTo>
                    <a:pt x="0" y="0"/>
                  </a:moveTo>
                  <a:lnTo>
                    <a:pt x="5039628" y="0"/>
                  </a:lnTo>
                  <a:lnTo>
                    <a:pt x="5039628" y="1994339"/>
                  </a:lnTo>
                  <a:lnTo>
                    <a:pt x="0" y="1994339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39628" cy="20514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2571718">
            <a:off x="-2175741" y="8229600"/>
            <a:ext cx="3992153" cy="4114800"/>
          </a:xfrm>
          <a:custGeom>
            <a:avLst/>
            <a:gdLst/>
            <a:ahLst/>
            <a:cxnLst/>
            <a:rect l="l" t="t" r="r" b="b"/>
            <a:pathLst>
              <a:path w="3992153" h="4114800">
                <a:moveTo>
                  <a:pt x="0" y="0"/>
                </a:moveTo>
                <a:lnTo>
                  <a:pt x="3992154" y="0"/>
                </a:lnTo>
                <a:lnTo>
                  <a:pt x="3992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8100000">
            <a:off x="15981942" y="-1788025"/>
            <a:ext cx="3992153" cy="4114800"/>
          </a:xfrm>
          <a:custGeom>
            <a:avLst/>
            <a:gdLst/>
            <a:ahLst/>
            <a:cxnLst/>
            <a:rect l="l" t="t" r="r" b="b"/>
            <a:pathLst>
              <a:path w="3992153" h="4114800">
                <a:moveTo>
                  <a:pt x="0" y="0"/>
                </a:moveTo>
                <a:lnTo>
                  <a:pt x="3992153" y="0"/>
                </a:lnTo>
                <a:lnTo>
                  <a:pt x="39921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58533" y="2838307"/>
            <a:ext cx="8107396" cy="251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hearing-impaired individuals face communication barriers in everyday life.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SignSpeak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bridge this gap through real-time AI-based sign language recognition.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9093" y="6789727"/>
            <a:ext cx="8107396" cy="3079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translation of hand gestures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 for multiple languages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meaningful sentence structures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Make communication more inclusive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endParaRPr lang="en-US" sz="2400" u="none" strike="noStrike" dirty="0">
              <a:solidFill>
                <a:srgbClr val="010101"/>
              </a:solidFill>
              <a:latin typeface="Times New Roman" panose="02020603050405020304" pitchFamily="18" charset="0"/>
              <a:ea typeface="Lora"/>
              <a:cs typeface="Times New Roman" panose="02020603050405020304" pitchFamily="18" charset="0"/>
              <a:sym typeface="Lor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99093" y="6260244"/>
            <a:ext cx="2590389" cy="44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4"/>
              </a:lnSpc>
              <a:spcBef>
                <a:spcPct val="0"/>
              </a:spcBef>
            </a:pPr>
            <a:r>
              <a:rPr lang="en-US" sz="2800" b="1" i="1" u="none" strike="noStrike" dirty="0">
                <a:solidFill>
                  <a:srgbClr val="010101"/>
                </a:solidFill>
                <a:latin typeface="Times New Roman" panose="02020603050405020304" pitchFamily="18" charset="0"/>
                <a:ea typeface="Lora Bold Italics"/>
                <a:cs typeface="Times New Roman" panose="02020603050405020304" pitchFamily="18" charset="0"/>
                <a:sym typeface="Lora Bold Italics"/>
              </a:rPr>
              <a:t>Objective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906E3916-2DA9-15E3-A425-31BFC4F63AC6}"/>
              </a:ext>
            </a:extLst>
          </p:cNvPr>
          <p:cNvSpPr txBox="1"/>
          <p:nvPr/>
        </p:nvSpPr>
        <p:spPr>
          <a:xfrm>
            <a:off x="1789013" y="1497552"/>
            <a:ext cx="6627818" cy="1127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95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Problem Statement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53D3C0-BCDD-4192-B396-DBED282F2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337" y="1637226"/>
            <a:ext cx="7621736" cy="743918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4954093" y="-208997"/>
            <a:ext cx="0" cy="10974228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4848206" cy="10287000"/>
            <a:chOff x="0" y="0"/>
            <a:chExt cx="1276894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6894" cy="2709333"/>
            </a:xfrm>
            <a:custGeom>
              <a:avLst/>
              <a:gdLst/>
              <a:ahLst/>
              <a:cxnLst/>
              <a:rect l="l" t="t" r="r" b="b"/>
              <a:pathLst>
                <a:path w="1276894" h="2709333">
                  <a:moveTo>
                    <a:pt x="0" y="0"/>
                  </a:moveTo>
                  <a:lnTo>
                    <a:pt x="1276894" y="0"/>
                  </a:lnTo>
                  <a:lnTo>
                    <a:pt x="12768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276894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56637" y="1771117"/>
            <a:ext cx="17822925" cy="6405099"/>
            <a:chOff x="0" y="0"/>
            <a:chExt cx="4694104" cy="16869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94104" cy="1686940"/>
            </a:xfrm>
            <a:custGeom>
              <a:avLst/>
              <a:gdLst/>
              <a:ahLst/>
              <a:cxnLst/>
              <a:rect l="l" t="t" r="r" b="b"/>
              <a:pathLst>
                <a:path w="4694104" h="1686940">
                  <a:moveTo>
                    <a:pt x="0" y="0"/>
                  </a:moveTo>
                  <a:lnTo>
                    <a:pt x="4694104" y="0"/>
                  </a:lnTo>
                  <a:lnTo>
                    <a:pt x="4694104" y="1686940"/>
                  </a:lnTo>
                  <a:lnTo>
                    <a:pt x="0" y="168694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4694104" cy="1715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95074" y="1547168"/>
            <a:ext cx="5296288" cy="1127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590"/>
              </a:lnSpc>
              <a:spcBef>
                <a:spcPct val="0"/>
              </a:spcBef>
            </a:pPr>
            <a:r>
              <a:rPr lang="en-US" sz="2800" u="none" strike="noStrike" dirty="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Technology Stack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96162" y="2817322"/>
            <a:ext cx="6647838" cy="510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• Python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• OpenCV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• TensorFlow (CNN)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• Flask (Backend)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• React(Frontend)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html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Css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Javascript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• Bootstrap (Styling)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BCE1E0-F7FD-9C24-08DC-E1EE93CEF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562" y="1771117"/>
            <a:ext cx="8305799" cy="64050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40418" y="-2441628"/>
            <a:ext cx="8690625" cy="6352057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5" y="0"/>
                </a:lnTo>
                <a:lnTo>
                  <a:pt x="8690625" y="6352057"/>
                </a:lnTo>
                <a:lnTo>
                  <a:pt x="0" y="6352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72712" y="8064712"/>
            <a:ext cx="1786588" cy="1676145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8" y="0"/>
                </a:lnTo>
                <a:lnTo>
                  <a:pt x="1786588" y="1676145"/>
                </a:lnTo>
                <a:lnTo>
                  <a:pt x="0" y="16761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3733306" y="6547977"/>
            <a:ext cx="8690625" cy="6352057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5" y="0"/>
                </a:lnTo>
                <a:lnTo>
                  <a:pt x="8690625" y="6352057"/>
                </a:lnTo>
                <a:lnTo>
                  <a:pt x="0" y="6352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23CC4FC-2C1A-F75B-88D3-9CC18BDB8B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419100"/>
            <a:ext cx="9067800" cy="901695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369FE7A-1191-5860-F07C-6582B43AEBEF}"/>
              </a:ext>
            </a:extLst>
          </p:cNvPr>
          <p:cNvSpPr txBox="1"/>
          <p:nvPr/>
        </p:nvSpPr>
        <p:spPr>
          <a:xfrm>
            <a:off x="838200" y="419100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DataFlow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3C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21968-7710-7C8E-AF19-2B8032E6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633A894-5CF7-2E89-AA33-622CD99A2801}"/>
              </a:ext>
            </a:extLst>
          </p:cNvPr>
          <p:cNvSpPr txBox="1"/>
          <p:nvPr/>
        </p:nvSpPr>
        <p:spPr>
          <a:xfrm>
            <a:off x="1050772" y="137231"/>
            <a:ext cx="7527213" cy="112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611"/>
              </a:lnSpc>
              <a:spcBef>
                <a:spcPct val="0"/>
              </a:spcBef>
            </a:pPr>
            <a:r>
              <a:rPr lang="en-US" sz="36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UI Examples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E448821-53BB-FCEA-496C-273E31E1C4BE}"/>
              </a:ext>
            </a:extLst>
          </p:cNvPr>
          <p:cNvSpPr/>
          <p:nvPr/>
        </p:nvSpPr>
        <p:spPr>
          <a:xfrm>
            <a:off x="9831362" y="2271930"/>
            <a:ext cx="10380725" cy="0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FC513B5B-0F06-6A7D-B507-E47505FDEB8A}"/>
              </a:ext>
            </a:extLst>
          </p:cNvPr>
          <p:cNvSpPr/>
          <p:nvPr/>
        </p:nvSpPr>
        <p:spPr>
          <a:xfrm>
            <a:off x="-4139590" y="9277350"/>
            <a:ext cx="10380725" cy="0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1421ABC-C85A-2CA1-F1B8-3BCE2C7BC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2468877"/>
            <a:ext cx="8349386" cy="64537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9AE5835-C775-EF9D-E29E-D2A2C8BA2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2476500"/>
            <a:ext cx="7924800" cy="64461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92B5344-F232-953C-D473-D556A774F545}"/>
              </a:ext>
            </a:extLst>
          </p:cNvPr>
          <p:cNvCxnSpPr/>
          <p:nvPr/>
        </p:nvCxnSpPr>
        <p:spPr>
          <a:xfrm>
            <a:off x="8915400" y="5524500"/>
            <a:ext cx="8229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 extrusionH="44450" contourW="12700">
            <a:bevelT w="6350"/>
            <a:bevelB w="12700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00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3C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2F139-45E5-C147-C4DF-3E248FFF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D0C4E07-EF8D-BE2D-7CDF-3845FB1340B4}"/>
              </a:ext>
            </a:extLst>
          </p:cNvPr>
          <p:cNvSpPr txBox="1"/>
          <p:nvPr/>
        </p:nvSpPr>
        <p:spPr>
          <a:xfrm>
            <a:off x="1050772" y="137231"/>
            <a:ext cx="7527213" cy="112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611"/>
              </a:lnSpc>
              <a:spcBef>
                <a:spcPct val="0"/>
              </a:spcBef>
            </a:pPr>
            <a:r>
              <a:rPr lang="en-US" sz="36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TAN Pearl"/>
                <a:cs typeface="Times New Roman" panose="02020603050405020304" pitchFamily="18" charset="0"/>
                <a:sym typeface="TAN Pearl"/>
              </a:rPr>
              <a:t>UI Examples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A033286-EFC1-31CE-6581-E623FABB837F}"/>
              </a:ext>
            </a:extLst>
          </p:cNvPr>
          <p:cNvSpPr/>
          <p:nvPr/>
        </p:nvSpPr>
        <p:spPr>
          <a:xfrm>
            <a:off x="9831362" y="2271930"/>
            <a:ext cx="10380725" cy="0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34DF81A9-D2CF-F11E-2CBE-7ADE394AC5EC}"/>
              </a:ext>
            </a:extLst>
          </p:cNvPr>
          <p:cNvSpPr/>
          <p:nvPr/>
        </p:nvSpPr>
        <p:spPr>
          <a:xfrm>
            <a:off x="-4139590" y="9277350"/>
            <a:ext cx="10380725" cy="0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EE12D-6A23-11F7-7F75-E74A578EA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28900"/>
            <a:ext cx="8040339" cy="62680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4D14D-2706-5D6D-F52F-D21F61915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4" t="19630" r="14167" b="13514"/>
          <a:stretch>
            <a:fillRect/>
          </a:stretch>
        </p:blipFill>
        <p:spPr>
          <a:xfrm>
            <a:off x="9800882" y="2628899"/>
            <a:ext cx="8040339" cy="62680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5CEEA4B-EEF5-9FD6-F91F-E540B7E65D12}"/>
              </a:ext>
            </a:extLst>
          </p:cNvPr>
          <p:cNvSpPr/>
          <p:nvPr/>
        </p:nvSpPr>
        <p:spPr>
          <a:xfrm>
            <a:off x="8487119" y="4457700"/>
            <a:ext cx="1116492" cy="1905000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824682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953000" y="4543760"/>
            <a:ext cx="16421100" cy="5086585"/>
            <a:chOff x="0" y="-28575"/>
            <a:chExt cx="2384945" cy="1356539"/>
          </a:xfrm>
        </p:grpSpPr>
        <p:sp>
          <p:nvSpPr>
            <p:cNvPr id="3" name="Freeform 3"/>
            <p:cNvSpPr/>
            <p:nvPr/>
          </p:nvSpPr>
          <p:spPr>
            <a:xfrm>
              <a:off x="1432683" y="46888"/>
              <a:ext cx="952262" cy="1281076"/>
            </a:xfrm>
            <a:custGeom>
              <a:avLst/>
              <a:gdLst/>
              <a:ahLst/>
              <a:cxnLst/>
              <a:rect l="l" t="t" r="r" b="b"/>
              <a:pathLst>
                <a:path w="952262" h="1281076">
                  <a:moveTo>
                    <a:pt x="36859" y="0"/>
                  </a:moveTo>
                  <a:lnTo>
                    <a:pt x="915403" y="0"/>
                  </a:lnTo>
                  <a:cubicBezTo>
                    <a:pt x="925178" y="0"/>
                    <a:pt x="934554" y="3883"/>
                    <a:pt x="941466" y="10796"/>
                  </a:cubicBezTo>
                  <a:cubicBezTo>
                    <a:pt x="948379" y="17708"/>
                    <a:pt x="952262" y="27084"/>
                    <a:pt x="952262" y="36859"/>
                  </a:cubicBezTo>
                  <a:lnTo>
                    <a:pt x="952262" y="1244217"/>
                  </a:lnTo>
                  <a:cubicBezTo>
                    <a:pt x="952262" y="1253992"/>
                    <a:pt x="948379" y="1263368"/>
                    <a:pt x="941466" y="1270280"/>
                  </a:cubicBezTo>
                  <a:cubicBezTo>
                    <a:pt x="934554" y="1277193"/>
                    <a:pt x="925178" y="1281076"/>
                    <a:pt x="915403" y="1281076"/>
                  </a:cubicBezTo>
                  <a:lnTo>
                    <a:pt x="36859" y="1281076"/>
                  </a:lnTo>
                  <a:cubicBezTo>
                    <a:pt x="27084" y="1281076"/>
                    <a:pt x="17708" y="1277193"/>
                    <a:pt x="10796" y="1270280"/>
                  </a:cubicBezTo>
                  <a:cubicBezTo>
                    <a:pt x="3883" y="1263368"/>
                    <a:pt x="0" y="1253992"/>
                    <a:pt x="0" y="1244217"/>
                  </a:cubicBezTo>
                  <a:lnTo>
                    <a:pt x="0" y="36859"/>
                  </a:lnTo>
                  <a:cubicBezTo>
                    <a:pt x="0" y="27084"/>
                    <a:pt x="3883" y="17708"/>
                    <a:pt x="10796" y="10796"/>
                  </a:cubicBezTo>
                  <a:cubicBezTo>
                    <a:pt x="17708" y="3883"/>
                    <a:pt x="27084" y="0"/>
                    <a:pt x="36859" y="0"/>
                  </a:cubicBezTo>
                  <a:close/>
                </a:path>
              </a:pathLst>
            </a:custGeom>
            <a:solidFill>
              <a:srgbClr val="DFD3CA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52262" cy="130965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24379"/>
            <a:ext cx="8270726" cy="106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2"/>
              </a:lnSpc>
              <a:spcBef>
                <a:spcPct val="0"/>
              </a:spcBef>
            </a:pPr>
            <a:r>
              <a:rPr lang="en-US" sz="5263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Reference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43600" y="6744120"/>
            <a:ext cx="4800600" cy="644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08"/>
              </a:lnSpc>
              <a:spcBef>
                <a:spcPct val="0"/>
              </a:spcBef>
            </a:pPr>
            <a:r>
              <a:rPr lang="en-US" sz="1863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Deep Learning for Sign Language Recognition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05837" y="7757243"/>
            <a:ext cx="5566963" cy="859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2194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American Sign Language Recognition Using Desk and Wearable Computer-Based Video</a:t>
            </a:r>
            <a:endParaRPr lang="en-US" sz="2400" dirty="0">
              <a:solidFill>
                <a:srgbClr val="010101"/>
              </a:solidFill>
              <a:latin typeface="Times New Roman" panose="02020603050405020304" pitchFamily="18" charset="0"/>
              <a:ea typeface="Lora"/>
              <a:cs typeface="Times New Roman" panose="02020603050405020304" pitchFamily="18" charset="0"/>
              <a:sym typeface="Lora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141526" y="7483098"/>
            <a:ext cx="3380817" cy="0"/>
          </a:xfrm>
          <a:prstGeom prst="line">
            <a:avLst/>
          </a:prstGeom>
          <a:ln w="38100" cap="flat">
            <a:solidFill>
              <a:srgbClr val="FDFDF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13801450" y="7483098"/>
            <a:ext cx="3380817" cy="0"/>
          </a:xfrm>
          <a:prstGeom prst="line">
            <a:avLst/>
          </a:prstGeom>
          <a:ln w="38100" cap="flat">
            <a:solidFill>
              <a:srgbClr val="FDFDF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Freeform 63"/>
          <p:cNvSpPr/>
          <p:nvPr/>
        </p:nvSpPr>
        <p:spPr>
          <a:xfrm>
            <a:off x="13240418" y="-2441628"/>
            <a:ext cx="8690625" cy="6352057"/>
          </a:xfrm>
          <a:custGeom>
            <a:avLst/>
            <a:gdLst/>
            <a:ahLst/>
            <a:cxnLst/>
            <a:rect l="l" t="t" r="r" b="b"/>
            <a:pathLst>
              <a:path w="8690625" h="6352057">
                <a:moveTo>
                  <a:pt x="0" y="0"/>
                </a:moveTo>
                <a:lnTo>
                  <a:pt x="8690625" y="0"/>
                </a:lnTo>
                <a:lnTo>
                  <a:pt x="8690625" y="6352057"/>
                </a:lnTo>
                <a:lnTo>
                  <a:pt x="0" y="6352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4" name="TextBox 64"/>
          <p:cNvSpPr txBox="1"/>
          <p:nvPr/>
        </p:nvSpPr>
        <p:spPr>
          <a:xfrm>
            <a:off x="1028699" y="2154238"/>
            <a:ext cx="11558785" cy="79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71"/>
              </a:lnSpc>
              <a:spcBef>
                <a:spcPct val="0"/>
              </a:spcBef>
            </a:pPr>
            <a:r>
              <a:rPr lang="en-US" sz="2265" u="none" strike="noStrike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The Famous Researcher who took interest in solving the problem of deaf peoples</a:t>
            </a:r>
          </a:p>
          <a:p>
            <a:pPr marL="0" lvl="0" indent="0" algn="l">
              <a:lnSpc>
                <a:spcPts val="3171"/>
              </a:lnSpc>
              <a:spcBef>
                <a:spcPct val="0"/>
              </a:spcBef>
            </a:pPr>
            <a:r>
              <a:rPr lang="en-US" sz="2265" u="none" strike="noStrike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 We take reference fro</a:t>
            </a:r>
            <a:r>
              <a:rPr lang="en-US" sz="2265" dirty="0">
                <a:solidFill>
                  <a:srgbClr val="010101"/>
                </a:solidFill>
                <a:latin typeface="Lora"/>
                <a:ea typeface="Lora"/>
                <a:cs typeface="Lora"/>
                <a:sym typeface="Lora"/>
              </a:rPr>
              <a:t>m their model and dataset to train our model </a:t>
            </a:r>
            <a:endParaRPr lang="en-US" sz="2265" u="none" strike="noStrike" dirty="0">
              <a:solidFill>
                <a:srgbClr val="01010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052" name="Picture 4" descr="Thad Starner | College of Computing">
            <a:extLst>
              <a:ext uri="{FF2B5EF4-FFF2-40B4-BE49-F238E27FC236}">
                <a16:creationId xmlns:a16="http://schemas.microsoft.com/office/drawing/2014/main" id="{59295C48-DD59-BC33-CEF2-23F1B8F51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834" y="3347371"/>
            <a:ext cx="2713545" cy="2770652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 prst="relaxedInset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F34AADE1-240E-0600-2730-7FC0BBA9BB01}"/>
              </a:ext>
            </a:extLst>
          </p:cNvPr>
          <p:cNvSpPr txBox="1"/>
          <p:nvPr/>
        </p:nvSpPr>
        <p:spPr>
          <a:xfrm>
            <a:off x="6867399" y="6195642"/>
            <a:ext cx="2556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Koller Oscar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9D633F5-C991-2A36-0C41-C17161E7D434}"/>
              </a:ext>
            </a:extLst>
          </p:cNvPr>
          <p:cNvSpPr/>
          <p:nvPr/>
        </p:nvSpPr>
        <p:spPr>
          <a:xfrm>
            <a:off x="4911475" y="7483098"/>
            <a:ext cx="6556625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4B9FF-FDAE-10AB-F98A-7339131A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EA7F6FD-3093-73C2-5A1E-70AB63D25987}"/>
              </a:ext>
            </a:extLst>
          </p:cNvPr>
          <p:cNvSpPr/>
          <p:nvPr/>
        </p:nvSpPr>
        <p:spPr>
          <a:xfrm flipH="1">
            <a:off x="4954093" y="-208997"/>
            <a:ext cx="0" cy="10974228"/>
          </a:xfrm>
          <a:prstGeom prst="line">
            <a:avLst/>
          </a:prstGeom>
          <a:ln w="19050" cap="flat">
            <a:solidFill>
              <a:srgbClr val="100F0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564CF88-219F-724A-CBEA-8BD154C8BB4C}"/>
              </a:ext>
            </a:extLst>
          </p:cNvPr>
          <p:cNvGrpSpPr/>
          <p:nvPr/>
        </p:nvGrpSpPr>
        <p:grpSpPr>
          <a:xfrm>
            <a:off x="0" y="0"/>
            <a:ext cx="4848206" cy="10287000"/>
            <a:chOff x="0" y="0"/>
            <a:chExt cx="1276894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61E8647-F189-ADBC-68CE-79D86E873218}"/>
                </a:ext>
              </a:extLst>
            </p:cNvPr>
            <p:cNvSpPr/>
            <p:nvPr/>
          </p:nvSpPr>
          <p:spPr>
            <a:xfrm>
              <a:off x="0" y="0"/>
              <a:ext cx="1276894" cy="2709333"/>
            </a:xfrm>
            <a:custGeom>
              <a:avLst/>
              <a:gdLst/>
              <a:ahLst/>
              <a:cxnLst/>
              <a:rect l="l" t="t" r="r" b="b"/>
              <a:pathLst>
                <a:path w="1276894" h="2709333">
                  <a:moveTo>
                    <a:pt x="0" y="0"/>
                  </a:moveTo>
                  <a:lnTo>
                    <a:pt x="1276894" y="0"/>
                  </a:lnTo>
                  <a:lnTo>
                    <a:pt x="12768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C553B11-F26B-1359-C314-617EAE831F18}"/>
                </a:ext>
              </a:extLst>
            </p:cNvPr>
            <p:cNvSpPr txBox="1"/>
            <p:nvPr/>
          </p:nvSpPr>
          <p:spPr>
            <a:xfrm>
              <a:off x="0" y="-28575"/>
              <a:ext cx="1276894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6CF66C7-227A-E773-1196-16CAB1555537}"/>
              </a:ext>
            </a:extLst>
          </p:cNvPr>
          <p:cNvGrpSpPr/>
          <p:nvPr/>
        </p:nvGrpSpPr>
        <p:grpSpPr>
          <a:xfrm>
            <a:off x="1656637" y="1771117"/>
            <a:ext cx="17822925" cy="6405099"/>
            <a:chOff x="0" y="0"/>
            <a:chExt cx="4694104" cy="168694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9FD90E1-C458-5AC3-4825-CF8830B78FD8}"/>
                </a:ext>
              </a:extLst>
            </p:cNvPr>
            <p:cNvSpPr/>
            <p:nvPr/>
          </p:nvSpPr>
          <p:spPr>
            <a:xfrm>
              <a:off x="0" y="0"/>
              <a:ext cx="4694104" cy="1686940"/>
            </a:xfrm>
            <a:custGeom>
              <a:avLst/>
              <a:gdLst/>
              <a:ahLst/>
              <a:cxnLst/>
              <a:rect l="l" t="t" r="r" b="b"/>
              <a:pathLst>
                <a:path w="4694104" h="1686940">
                  <a:moveTo>
                    <a:pt x="0" y="0"/>
                  </a:moveTo>
                  <a:lnTo>
                    <a:pt x="4694104" y="0"/>
                  </a:lnTo>
                  <a:lnTo>
                    <a:pt x="4694104" y="1686940"/>
                  </a:lnTo>
                  <a:lnTo>
                    <a:pt x="0" y="168694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CF659C1-4F78-4656-A250-4660AA9E1F66}"/>
                </a:ext>
              </a:extLst>
            </p:cNvPr>
            <p:cNvSpPr txBox="1"/>
            <p:nvPr/>
          </p:nvSpPr>
          <p:spPr>
            <a:xfrm>
              <a:off x="0" y="-28575"/>
              <a:ext cx="4694104" cy="1715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A8F8CB5-A38E-553F-BB03-B8921DCE0529}"/>
              </a:ext>
            </a:extLst>
          </p:cNvPr>
          <p:cNvSpPr txBox="1"/>
          <p:nvPr/>
        </p:nvSpPr>
        <p:spPr>
          <a:xfrm>
            <a:off x="8037620" y="1448712"/>
            <a:ext cx="5296288" cy="1127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590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conclusion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A339E48-4BDB-2089-D074-FA448CC9FA7B}"/>
              </a:ext>
            </a:extLst>
          </p:cNvPr>
          <p:cNvSpPr txBox="1"/>
          <p:nvPr/>
        </p:nvSpPr>
        <p:spPr>
          <a:xfrm>
            <a:off x="2496162" y="2817322"/>
            <a:ext cx="14572638" cy="316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SignSpeak</a:t>
            </a:r>
            <a:r>
              <a:rPr lang="en-US" sz="2800" dirty="0"/>
              <a:t> acts as a digital bridge between hearing-impaired and non-signers. With its modular AI-based approach, it enhances communication accessibility.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This is the Voice of speech-impaired and voice for deaf people.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947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02619"/>
            <a:ext cx="7154125" cy="9032594"/>
            <a:chOff x="0" y="0"/>
            <a:chExt cx="660400" cy="8338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833802"/>
            </a:xfrm>
            <a:custGeom>
              <a:avLst/>
              <a:gdLst/>
              <a:ahLst/>
              <a:cxnLst/>
              <a:rect l="l" t="t" r="r" b="b"/>
              <a:pathLst>
                <a:path w="660400" h="833802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969"/>
                  </a:cubicBezTo>
                  <a:lnTo>
                    <a:pt x="660400" y="833802"/>
                  </a:lnTo>
                  <a:lnTo>
                    <a:pt x="0" y="833802"/>
                  </a:lnTo>
                  <a:lnTo>
                    <a:pt x="0" y="329343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FD3C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98425"/>
              <a:ext cx="660400" cy="735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70049" y="1696945"/>
            <a:ext cx="6671426" cy="6671426"/>
          </a:xfrm>
          <a:custGeom>
            <a:avLst/>
            <a:gdLst/>
            <a:ahLst/>
            <a:cxnLst/>
            <a:rect l="l" t="t" r="r" b="b"/>
            <a:pathLst>
              <a:path w="8903970" h="8903970">
                <a:moveTo>
                  <a:pt x="4451350" y="8903970"/>
                </a:moveTo>
                <a:cubicBezTo>
                  <a:pt x="1997710" y="8903970"/>
                  <a:pt x="0" y="6906260"/>
                  <a:pt x="0" y="4451350"/>
                </a:cubicBezTo>
                <a:cubicBezTo>
                  <a:pt x="0" y="1996440"/>
                  <a:pt x="1997710" y="0"/>
                  <a:pt x="4451350" y="0"/>
                </a:cubicBezTo>
                <a:cubicBezTo>
                  <a:pt x="6904990" y="0"/>
                  <a:pt x="8903970" y="1997710"/>
                  <a:pt x="8903970" y="4451350"/>
                </a:cubicBezTo>
                <a:cubicBezTo>
                  <a:pt x="8903970" y="6904990"/>
                  <a:pt x="6906260" y="8903970"/>
                  <a:pt x="4451350" y="8903970"/>
                </a:cubicBezTo>
                <a:close/>
                <a:moveTo>
                  <a:pt x="4451350" y="19050"/>
                </a:moveTo>
                <a:cubicBezTo>
                  <a:pt x="2007870" y="19050"/>
                  <a:pt x="19050" y="2007870"/>
                  <a:pt x="19050" y="4451350"/>
                </a:cubicBezTo>
                <a:cubicBezTo>
                  <a:pt x="19050" y="6894830"/>
                  <a:pt x="2007870" y="8883650"/>
                  <a:pt x="4451350" y="8883650"/>
                </a:cubicBezTo>
                <a:cubicBezTo>
                  <a:pt x="6894830" y="8883650"/>
                  <a:pt x="8883650" y="6894830"/>
                  <a:pt x="8883650" y="4451350"/>
                </a:cubicBezTo>
                <a:cubicBezTo>
                  <a:pt x="8883650" y="2007870"/>
                  <a:pt x="6896100" y="19050"/>
                  <a:pt x="4451350" y="19050"/>
                </a:cubicBezTo>
                <a:close/>
              </a:path>
            </a:pathLst>
          </a:custGeom>
          <a:solidFill>
            <a:srgbClr val="1A1A1A"/>
          </a:solidFill>
        </p:spPr>
      </p:sp>
      <p:sp>
        <p:nvSpPr>
          <p:cNvPr id="8" name="Freeform 8"/>
          <p:cNvSpPr/>
          <p:nvPr/>
        </p:nvSpPr>
        <p:spPr>
          <a:xfrm>
            <a:off x="15498611" y="564547"/>
            <a:ext cx="1786588" cy="1676145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9" y="0"/>
                </a:lnTo>
                <a:lnTo>
                  <a:pt x="1786589" y="1676145"/>
                </a:lnTo>
                <a:lnTo>
                  <a:pt x="0" y="1676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212862" y="2473339"/>
            <a:ext cx="8178165" cy="8229600"/>
          </a:xfrm>
          <a:custGeom>
            <a:avLst/>
            <a:gdLst/>
            <a:ahLst/>
            <a:cxnLst/>
            <a:rect l="l" t="t" r="r" b="b"/>
            <a:pathLst>
              <a:path w="8178165" h="8229600">
                <a:moveTo>
                  <a:pt x="0" y="0"/>
                </a:moveTo>
                <a:lnTo>
                  <a:pt x="8178165" y="0"/>
                </a:lnTo>
                <a:lnTo>
                  <a:pt x="81781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000"/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26169" y="4319529"/>
            <a:ext cx="6758015" cy="2132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32"/>
              </a:lnSpc>
              <a:spcBef>
                <a:spcPct val="0"/>
              </a:spcBef>
            </a:pPr>
            <a:r>
              <a:rPr lang="en-US" sz="5263" u="none" strike="noStrike" dirty="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THANK </a:t>
            </a:r>
          </a:p>
          <a:p>
            <a:pPr marL="0" lvl="0" indent="0" algn="ctr">
              <a:lnSpc>
                <a:spcPts val="8632"/>
              </a:lnSpc>
              <a:spcBef>
                <a:spcPct val="0"/>
              </a:spcBef>
            </a:pPr>
            <a:r>
              <a:rPr lang="en-US" sz="5263" dirty="0">
                <a:solidFill>
                  <a:srgbClr val="000000"/>
                </a:solidFill>
                <a:latin typeface="TAN Pearl"/>
                <a:ea typeface="TAN Pearl"/>
                <a:cs typeface="TAN Pearl"/>
                <a:sym typeface="TAN Pearl"/>
              </a:rPr>
              <a:t>YOU</a:t>
            </a:r>
            <a:endParaRPr lang="en-US" sz="5263" u="none" strike="noStrike" dirty="0">
              <a:solidFill>
                <a:srgbClr val="000000"/>
              </a:solidFill>
              <a:latin typeface="TAN Pearl"/>
              <a:ea typeface="TAN Pearl"/>
              <a:cs typeface="TAN Pearl"/>
              <a:sym typeface="TAN Pear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74860A-A210-8B7A-49C6-AC31D46075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25"/>
          <a:stretch>
            <a:fillRect/>
          </a:stretch>
        </p:blipFill>
        <p:spPr>
          <a:xfrm>
            <a:off x="1506256" y="2079110"/>
            <a:ext cx="6199012" cy="59070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293</Words>
  <Application>Microsoft Office PowerPoint</Application>
  <PresentationFormat>Custom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Lora</vt:lpstr>
      <vt:lpstr>Dream Avenue</vt:lpstr>
      <vt:lpstr>TAN Pearl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Prathamesh Raut</cp:lastModifiedBy>
  <cp:revision>3</cp:revision>
  <dcterms:created xsi:type="dcterms:W3CDTF">2006-08-16T00:00:00Z</dcterms:created>
  <dcterms:modified xsi:type="dcterms:W3CDTF">2025-06-24T16:48:25Z</dcterms:modified>
  <dc:identifier>DAGrRtgfL0s</dc:identifier>
</cp:coreProperties>
</file>